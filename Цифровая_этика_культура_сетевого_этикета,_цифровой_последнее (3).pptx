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6" r:id="rId4"/>
    <p:sldId id="257" r:id="rId5"/>
    <p:sldId id="264" r:id="rId6"/>
    <p:sldId id="260" r:id="rId7"/>
    <p:sldId id="265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8FC463-F6D3-439D-8C67-304A4E551256}" v="1099" dt="2025-11-18T19:10:21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3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931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212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04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530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4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957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79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505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86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92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126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5ED32-2BD1-485B-AEE9-CFB6A028A34D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7C59D-B56F-4D6F-AC00-6F923843AB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95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8869" y="2124092"/>
            <a:ext cx="10668000" cy="23876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этика (культура сетевого этикета, цифровой имидж).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 flipH="1">
            <a:off x="6770914" y="4642668"/>
            <a:ext cx="5181600" cy="1692773"/>
          </a:xfrm>
        </p:spPr>
        <p:txBody>
          <a:bodyPr>
            <a:normAutofit/>
          </a:bodyPr>
          <a:lstStyle/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выполнили:</a:t>
            </a:r>
          </a:p>
          <a:p>
            <a:pPr algn="r"/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Боровская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Мария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Ушакова Валерия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Биоинженерия 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биоинформатика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4750601/50001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9372" y="84309"/>
            <a:ext cx="58869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«Санкт-Петербургский политехнический университет Петра Великого»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008344" y="6403369"/>
            <a:ext cx="21490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 2025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69" y="5472260"/>
            <a:ext cx="863181" cy="86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981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9965" y="971903"/>
            <a:ext cx="112863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осведомленности и формирование ответственного поведения в цифровом пространстве.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9965" y="3068992"/>
            <a:ext cx="11756571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Поиск подходящей информации и ее анализ.</a:t>
            </a:r>
          </a:p>
          <a:p>
            <a:r>
              <a:rPr lang="ru-RU" sz="2000" dirty="0">
                <a:latin typeface="Times New Roman"/>
                <a:cs typeface="Times New Roman"/>
              </a:rPr>
              <a:t>2) Структурировать и объяснить полученную информацию.</a:t>
            </a:r>
          </a:p>
          <a:p>
            <a:r>
              <a:rPr lang="ru-RU" sz="2000" dirty="0">
                <a:latin typeface="Times New Roman"/>
                <a:cs typeface="Times New Roman"/>
              </a:rPr>
              <a:t>3) Выступление с презентацией на тему </a:t>
            </a:r>
            <a:r>
              <a:rPr lang="ru-RU" dirty="0">
                <a:latin typeface="Times New Roman"/>
                <a:cs typeface="Times New Roman"/>
              </a:rPr>
              <a:t>«</a:t>
            </a:r>
            <a:r>
              <a:rPr lang="ru-RU" sz="2000" dirty="0">
                <a:latin typeface="Times New Roman"/>
                <a:cs typeface="Times New Roman"/>
              </a:rPr>
              <a:t>Цифровая этика (культура сетевого этикета, цифровой имидж).</a:t>
            </a:r>
            <a:r>
              <a:rPr lang="ru-RU" dirty="0">
                <a:latin typeface="Times New Roman"/>
                <a:cs typeface="Times New Roman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22349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AA4BF0-6CE9-5440-AE8C-2726EE311140}"/>
              </a:ext>
            </a:extLst>
          </p:cNvPr>
          <p:cNvSpPr txBox="1"/>
          <p:nvPr/>
        </p:nvSpPr>
        <p:spPr>
          <a:xfrm>
            <a:off x="430696" y="127001"/>
            <a:ext cx="11264347" cy="53059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b="1" baseline="0" dirty="0">
                <a:latin typeface="Times New Roman"/>
              </a:rPr>
              <a:t>Введение</a:t>
            </a:r>
            <a:r>
              <a:rPr lang="en-US" sz="2400" b="1" baseline="0" dirty="0">
                <a:latin typeface="Times New Roman"/>
              </a:rPr>
              <a:t>: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​</a:t>
            </a:r>
            <a:endParaRPr lang="ru-RU" dirty="0"/>
          </a:p>
          <a:p>
            <a:pPr algn="ctr"/>
            <a:endParaRPr lang="ru-RU"/>
          </a:p>
          <a:p>
            <a:pPr algn="just">
              <a:lnSpc>
                <a:spcPct val="150000"/>
              </a:lnSpc>
            </a:pPr>
            <a:r>
              <a:rPr lang="ru-RU" sz="1100" dirty="0">
                <a:latin typeface="Calibri"/>
                <a:ea typeface="+mn-lt"/>
                <a:cs typeface="+mn-lt"/>
              </a:rPr>
              <a:t> </a:t>
            </a:r>
            <a:r>
              <a:rPr lang="ru-RU" sz="2000">
                <a:latin typeface="Times New Roman"/>
                <a:ea typeface="+mn-lt"/>
                <a:cs typeface="Segoe UI"/>
              </a:rPr>
              <a:t>Сегодня мы живем в эпоху, когда цифровое пространство стало  неотъемлемой частью нашей жизни. Мы работаем, </a:t>
            </a:r>
            <a:r>
              <a:rPr lang="ru-RU" sz="2000" dirty="0">
                <a:latin typeface="Times New Roman"/>
                <a:ea typeface="+mn-lt"/>
                <a:cs typeface="Segoe UI"/>
              </a:rPr>
              <a:t>учимся, общаемся и строим отношения онлайн. Именно поэтому тема цифровой этики, включающая культуру сетевого общения и управление цифровым имиджем, актуальна как никогда.</a:t>
            </a:r>
            <a:r>
              <a:rPr lang="ru-RU" sz="2000" u="sng" dirty="0">
                <a:latin typeface="Times New Roman"/>
                <a:ea typeface="+mn-lt"/>
                <a:cs typeface="+mn-lt"/>
              </a:rPr>
              <a:t>Цифровая этика</a:t>
            </a:r>
            <a:r>
              <a:rPr lang="ru-RU" sz="2000" dirty="0">
                <a:latin typeface="Times New Roman"/>
                <a:ea typeface="+mn-lt"/>
                <a:cs typeface="+mn-lt"/>
              </a:rPr>
              <a:t> — система моральных принципов, призванных следить, чтобы технологии служили во благо человека и общества. Для обычного пользователя она проявляется через две основные практики:</a:t>
            </a:r>
            <a:endParaRPr lang="ru-RU" sz="2000">
              <a:latin typeface="Times New Roman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/>
                <a:ea typeface="+mn-lt"/>
                <a:cs typeface="+mn-lt"/>
              </a:rPr>
              <a:t>1. Культура сетевого этикета — это «как» мы общаемся: уважительно, безопасно и продуктивно.</a:t>
            </a:r>
          </a:p>
          <a:p>
            <a:pPr algn="ctr">
              <a:lnSpc>
                <a:spcPct val="150000"/>
              </a:lnSpc>
            </a:pPr>
            <a:endParaRPr lang="ru-RU" sz="2000" dirty="0">
              <a:latin typeface="Times New Roman"/>
              <a:ea typeface="+mn-lt"/>
              <a:cs typeface="+mn-lt"/>
            </a:endParaRPr>
          </a:p>
          <a:p>
            <a:pPr algn="ctr">
              <a:lnSpc>
                <a:spcPct val="150000"/>
              </a:lnSpc>
            </a:pPr>
            <a:r>
              <a:rPr lang="ru-RU" sz="2000" dirty="0">
                <a:latin typeface="Times New Roman"/>
                <a:ea typeface="+mn-lt"/>
                <a:cs typeface="+mn-lt"/>
              </a:rPr>
              <a:t>2. Цифровой имидж — это «кто» мы в сети: совокупная репутация, которую мы формируем своими действиями.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91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939" y="1061020"/>
            <a:ext cx="7475976" cy="5233183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15842" y="150931"/>
            <a:ext cx="4021024" cy="8002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2400" dirty="0">
                <a:latin typeface="Times New Roman"/>
                <a:cs typeface="Times New Roman"/>
              </a:rPr>
              <a:t>Что такое </a:t>
            </a:r>
            <a:r>
              <a:rPr lang="ru-RU" sz="2400" b="1" dirty="0">
                <a:latin typeface="Times New Roman"/>
                <a:cs typeface="Times New Roman"/>
              </a:rPr>
              <a:t>цифровая этика</a:t>
            </a:r>
            <a:r>
              <a:rPr lang="ru-RU" sz="2400" dirty="0">
                <a:latin typeface="Times New Roman"/>
                <a:cs typeface="Times New Roman"/>
              </a:rPr>
              <a:t>? </a:t>
            </a:r>
            <a:r>
              <a:rPr lang="ru-RU" sz="2200" dirty="0">
                <a:latin typeface="Times New Roman"/>
                <a:cs typeface="Times New Roman"/>
              </a:rPr>
              <a:t>На чем основывается?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-15461" y="2209911"/>
            <a:ext cx="3923041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ru-RU" sz="24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2886" y="2345384"/>
            <a:ext cx="5596394" cy="332020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Times New Roman"/>
                <a:ea typeface="Calibri"/>
                <a:cs typeface="Times New Roman"/>
              </a:rPr>
              <a:t>- </a:t>
            </a:r>
            <a:r>
              <a:rPr lang="ru-RU" sz="2000" dirty="0">
                <a:latin typeface="Times New Roman"/>
                <a:ea typeface="+mn-lt"/>
                <a:cs typeface="+mn-lt"/>
              </a:rPr>
              <a:t> Конфиденциальность и контроль над данными</a:t>
            </a:r>
            <a:endParaRPr lang="ru-RU" sz="20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Times New Roman"/>
                <a:ea typeface="Calibri"/>
                <a:cs typeface="Times New Roman"/>
              </a:rPr>
              <a:t>- </a:t>
            </a:r>
            <a:r>
              <a:rPr lang="ru-RU" sz="2000" dirty="0">
                <a:latin typeface="Times New Roman"/>
                <a:ea typeface="+mn-lt"/>
                <a:cs typeface="+mn-lt"/>
              </a:rPr>
              <a:t>Справедливость алгоритмов и борьба с дискриминацией</a:t>
            </a:r>
            <a:endParaRPr lang="ru-RU" sz="2000">
              <a:latin typeface="Times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Times New Roman"/>
                <a:ea typeface="Calibri"/>
                <a:cs typeface="Times New Roman"/>
              </a:rPr>
              <a:t>- </a:t>
            </a:r>
            <a:r>
              <a:rPr lang="ru-RU" sz="2000" dirty="0">
                <a:latin typeface="Times New Roman"/>
                <a:ea typeface="+mn-lt"/>
                <a:cs typeface="+mn-lt"/>
              </a:rPr>
              <a:t>Ответственность и безопасность</a:t>
            </a:r>
            <a:endParaRPr lang="ru-RU" sz="2000">
              <a:latin typeface="Times New Roman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Times New Roman"/>
                <a:ea typeface="Calibri"/>
                <a:cs typeface="Times New Roman"/>
              </a:rPr>
              <a:t>- </a:t>
            </a:r>
            <a:r>
              <a:rPr lang="ru-RU" sz="2000" dirty="0">
                <a:latin typeface="Times New Roman"/>
                <a:ea typeface="+mn-lt"/>
                <a:cs typeface="+mn-lt"/>
              </a:rPr>
              <a:t>Человеческая автономия и свобода воли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Times New Roman"/>
                <a:ea typeface="Calibri" panose="020F0502020204030204"/>
                <a:cs typeface="Calibri"/>
              </a:rPr>
              <a:t>-</a:t>
            </a:r>
            <a:r>
              <a:rPr lang="ru-RU" sz="2000" dirty="0">
                <a:latin typeface="Times New Roman"/>
                <a:ea typeface="+mn-lt"/>
                <a:cs typeface="+mn-lt"/>
              </a:rPr>
              <a:t>Цифровое неравенство (Digital </a:t>
            </a:r>
            <a:r>
              <a:rPr lang="ru-RU" sz="2000" err="1">
                <a:latin typeface="Times New Roman"/>
                <a:ea typeface="+mn-lt"/>
                <a:cs typeface="+mn-lt"/>
              </a:rPr>
              <a:t>Divide</a:t>
            </a:r>
            <a:r>
              <a:rPr lang="ru-RU" sz="2000" dirty="0">
                <a:latin typeface="Times New Roman"/>
                <a:ea typeface="+mn-lt"/>
                <a:cs typeface="+mn-lt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Times New Roman"/>
                <a:ea typeface="Calibri" panose="020F0502020204030204"/>
                <a:cs typeface="Calibri"/>
              </a:rPr>
              <a:t>-</a:t>
            </a:r>
            <a:r>
              <a:rPr lang="ru-RU" sz="2000" dirty="0">
                <a:latin typeface="Times New Roman"/>
                <a:ea typeface="+mn-lt"/>
                <a:cs typeface="+mn-lt"/>
              </a:rPr>
              <a:t>Долгосрочное влияние на человечество</a:t>
            </a:r>
            <a:endParaRPr lang="ru-RU" sz="2000">
              <a:latin typeface="Times New Roman"/>
              <a:ea typeface="Calibri" panose="020F0502020204030204"/>
              <a:cs typeface="Calibri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000" dirty="0">
              <a:latin typeface="Times New Roman"/>
              <a:ea typeface="Calibri" panose="020F0502020204030204"/>
              <a:cs typeface="Calibri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83321" y="823038"/>
            <a:ext cx="6217478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18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зарисовка, рисунок, Штриховая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E86AF4-4E3A-FAE4-AF99-EB9BA134B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4" r="11805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4800">
                <a:latin typeface="+mj-lt"/>
                <a:ea typeface="+mj-ea"/>
                <a:cs typeface="+mj-cs"/>
              </a:rPr>
              <a:t>Культура сетевого этикета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710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97484"/>
            <a:ext cx="4171405" cy="357653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36837" y="3624601"/>
            <a:ext cx="3918858" cy="298789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071" y="3628113"/>
            <a:ext cx="2899954" cy="2899954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422532" y="376143"/>
            <a:ext cx="42716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Нетикета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017260" y="910899"/>
            <a:ext cx="11808825" cy="29915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1. Помните о человеке.</a:t>
            </a:r>
            <a:endParaRPr lang="ru-RU" sz="20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2. Придерживайтесь тех же стандартов </a:t>
            </a:r>
            <a:r>
              <a:rPr lang="ru-RU" sz="20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поведения, что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и в жизни.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3. Соблюдайте правила грамотности и пунктуации.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4. Будьте точны и проверяйте информацию.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Times New Roman"/>
                <a:cs typeface="Times New Roman"/>
              </a:rPr>
              <a:t>5. Уважайте время других.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Times New Roman"/>
                <a:cs typeface="Times New Roman"/>
              </a:rPr>
              <a:t>6. Не злоупотребляйте CAPS LOCK. </a:t>
            </a:r>
          </a:p>
          <a:p>
            <a:pPr algn="just"/>
            <a:r>
              <a:rPr lang="ru-RU" sz="2000" dirty="0">
                <a:latin typeface="Times New Roman"/>
                <a:cs typeface="Times New Roman"/>
              </a:rPr>
              <a:t>7. Уважайте авторское право</a:t>
            </a:r>
            <a:endParaRPr lang="ru-RU" sz="2000" dirty="0">
              <a:latin typeface="Times New Roman"/>
              <a:ea typeface="Calibri" panose="020F0502020204030204" pitchFamily="34" charset="0"/>
              <a:cs typeface="Times New Roman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268891" y="6471486"/>
            <a:ext cx="6096000" cy="3736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1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558341" y="6471486"/>
            <a:ext cx="1162691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2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9477199" y="6495843"/>
            <a:ext cx="1285417" cy="368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3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271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Прямоугольник 1"/>
          <p:cNvSpPr/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Цифровой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имидж</a:t>
            </a:r>
          </a:p>
        </p:txBody>
      </p:sp>
      <p:pic>
        <p:nvPicPr>
          <p:cNvPr id="3" name="Рисунок 2" descr="Изображение выглядит как снимок экрана, Цвет электрик, Кобальтовая синь, Цвет Majorelle blue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FB07C9-8060-0495-DB08-4DC377A6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020" y="3074563"/>
            <a:ext cx="3947766" cy="36606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Рисунок 3" descr="Изображение выглядит как одежда, человек, Формальная одежда, костю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0F2294-6715-AA00-F074-F5F904986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483" y="113056"/>
            <a:ext cx="4473989" cy="34292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2218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6837" y="349758"/>
            <a:ext cx="7277890" cy="46166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ru-RU" sz="2400" dirty="0">
                <a:latin typeface="Times New Roman"/>
                <a:cs typeface="Times New Roman"/>
              </a:rPr>
              <a:t>Основные правила управления цифровым имиджем: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63" y="3702881"/>
            <a:ext cx="3838443" cy="255736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56" y="704778"/>
            <a:ext cx="2831055" cy="283105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129263" y="2059345"/>
            <a:ext cx="7559039" cy="55297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20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· Думайте, прежде чем что-то опубликовать. "Выстрелил — потом нацелился" в интернете не работает.</a:t>
            </a:r>
            <a:endParaRPr lang="ru-RU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ru-RU" sz="20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· Регулярно проверяйте настройки конфиденциальности в соцсетях.</a:t>
            </a:r>
            <a:endParaRPr lang="ru-RU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ru-RU" sz="20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· Используйте сложные и разные пароли.</a:t>
            </a:r>
            <a:endParaRPr lang="ru-RU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ru-RU" sz="20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· Будьте осторожны с персональными данными (адрес, телефон,</a:t>
            </a:r>
            <a:endParaRPr lang="ru-RU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паспортные данные).</a:t>
            </a:r>
            <a:endParaRPr lang="ru-RU" dirty="0">
              <a:latin typeface="Times New Roman"/>
              <a:cs typeface="Times New Roman"/>
            </a:endParaRPr>
          </a:p>
          <a:p>
            <a:pPr algn="just"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endParaRPr lang="ru-RU" sz="2000">
              <a:latin typeface="Times New Roman"/>
              <a:ea typeface="Calibri"/>
              <a:cs typeface="Times New Roman"/>
            </a:endParaRPr>
          </a:p>
          <a:p>
            <a:pPr>
              <a:spcAft>
                <a:spcPts val="800"/>
              </a:spcAft>
            </a:pPr>
            <a:endParaRPr lang="ru-RU" sz="20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>
              <a:spcAft>
                <a:spcPts val="800"/>
              </a:spcAft>
            </a:pPr>
            <a:endParaRPr lang="ru-RU" sz="20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054014" y="3351167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1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085511" y="6242625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2324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310" y="1197090"/>
            <a:ext cx="5064034" cy="506403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76999" y="830727"/>
            <a:ext cx="5742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управлять своим цифровым имиджем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855618" y="2532534"/>
            <a:ext cx="6096000" cy="21493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Аудит.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Настройка приватности.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Создание позитивного контента.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Аутентичность.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Регулярная "гигиена". 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857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" y="1202090"/>
            <a:ext cx="12194143" cy="335553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3400" b="1" dirty="0">
                <a:latin typeface="Times New Roman"/>
                <a:cs typeface="Times New Roman"/>
              </a:rPr>
              <a:t>Вывод</a:t>
            </a:r>
            <a:r>
              <a:rPr lang="en-US" sz="3400" b="1" dirty="0">
                <a:latin typeface="Times New Roman"/>
                <a:cs typeface="Times New Roman"/>
              </a:rPr>
              <a:t>:</a:t>
            </a:r>
            <a:r>
              <a:rPr lang="ru-RU" sz="3400" b="1" dirty="0">
                <a:latin typeface="Times New Roman"/>
                <a:cs typeface="Times New Roman"/>
              </a:rPr>
              <a:t> </a:t>
            </a:r>
            <a:r>
              <a:rPr lang="ru-RU" sz="2200" dirty="0">
                <a:latin typeface="Times New Roman"/>
                <a:cs typeface="Times New Roman"/>
              </a:rPr>
              <a:t>цифровая этика — это не временный тренд, а новая культурная норма. </a:t>
            </a:r>
            <a:r>
              <a:rPr lang="ru-RU" sz="2200" dirty="0">
                <a:latin typeface="Times New Roman"/>
                <a:ea typeface="+mn-lt"/>
                <a:cs typeface="+mn-lt"/>
              </a:rPr>
              <a:t>В мире, где стираются границы между онлайн и офлайн пространствами, наша репутация едина. Культура сетевого общения и осознанное формирование цифрового имиджа — это не просто правила </a:t>
            </a:r>
            <a:r>
              <a:rPr lang="ru-RU" sz="2200">
                <a:latin typeface="Times New Roman"/>
                <a:ea typeface="+mn-lt"/>
                <a:cs typeface="+mn-lt"/>
              </a:rPr>
              <a:t>хорошего тона, а инвестиция в наше будущее: карьеру, социальные связи и личное благополучие. Необходимо стремиться к тому, чтобы цифровое пространство стало безопасной, комфортной </a:t>
            </a:r>
            <a:r>
              <a:rPr lang="ru-RU" sz="2200" dirty="0">
                <a:latin typeface="Times New Roman"/>
                <a:ea typeface="+mn-lt"/>
                <a:cs typeface="+mn-lt"/>
              </a:rPr>
              <a:t>средой для каждого из нас.</a:t>
            </a:r>
            <a:endParaRPr lang="ru-RU" sz="2200" b="1" dirty="0">
              <a:latin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381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311</Words>
  <Application>Microsoft Office PowerPoint</Application>
  <PresentationFormat>Широкоэкранный</PresentationFormat>
  <Paragraphs>52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Цифровая этика (культура сетевого этикета, цифровой имидж).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Маша</dc:creator>
  <cp:lastModifiedBy>Маша</cp:lastModifiedBy>
  <cp:revision>227</cp:revision>
  <dcterms:created xsi:type="dcterms:W3CDTF">2025-11-17T20:33:19Z</dcterms:created>
  <dcterms:modified xsi:type="dcterms:W3CDTF">2025-11-18T19:20:01Z</dcterms:modified>
</cp:coreProperties>
</file>